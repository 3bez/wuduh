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C9A84C"/>
            </a:solidFill>
            <a:ln w="38100" cap="flat">
              <a:solidFill>
                <a:srgbClr val="C9A8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9A84C"/>
              </a:solidFill>
              <a:ln w="9525" cap="flat">
                <a:solidFill>
                  <a:srgbClr val="C9A8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495</c:v>
                </c:pt>
                <c:pt idx="1">
                  <c:v>1188</c:v>
                </c:pt>
                <c:pt idx="2">
                  <c:v>1782</c:v>
                </c:pt>
                <c:pt idx="3">
                  <c:v>2475</c:v>
                </c:pt>
                <c:pt idx="4">
                  <c:v>3366</c:v>
                </c:pt>
                <c:pt idx="5">
                  <c:v>4158</c:v>
                </c:pt>
                <c:pt idx="6">
                  <c:v>5049</c:v>
                </c:pt>
                <c:pt idx="7">
                  <c:v>5940</c:v>
                </c:pt>
                <c:pt idx="8">
                  <c:v>7425</c:v>
                </c:pt>
                <c:pt idx="9">
                  <c:v>8910</c:v>
                </c:pt>
                <c:pt idx="10">
                  <c:v>10395</c:v>
                </c:pt>
                <c:pt idx="11">
                  <c:v>11880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costs</c:v>
                </c:pt>
              </c:strCache>
            </c:strRef>
          </c:tx>
          <c:spPr>
            <a:solidFill>
              <a:srgbClr val="647183"/>
            </a:solidFill>
            <a:ln w="38100" cap="flat">
              <a:solidFill>
                <a:srgbClr val="64718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47183"/>
              </a:solidFill>
              <a:ln w="9525" cap="flat">
                <a:solidFill>
                  <a:srgbClr val="64718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410</c:v>
                </c:pt>
                <c:pt idx="1">
                  <c:v>452</c:v>
                </c:pt>
                <c:pt idx="2">
                  <c:v>488</c:v>
                </c:pt>
                <c:pt idx="3">
                  <c:v>2030</c:v>
                </c:pt>
                <c:pt idx="4">
                  <c:v>2084</c:v>
                </c:pt>
                <c:pt idx="5">
                  <c:v>2132</c:v>
                </c:pt>
                <c:pt idx="6">
                  <c:v>2186</c:v>
                </c:pt>
                <c:pt idx="7">
                  <c:v>2240</c:v>
                </c:pt>
                <c:pt idx="8">
                  <c:v>2330</c:v>
                </c:pt>
                <c:pt idx="9">
                  <c:v>2420</c:v>
                </c:pt>
                <c:pt idx="10">
                  <c:v>2510</c:v>
                </c:pt>
                <c:pt idx="11">
                  <c:v>2600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183"/>
                </a:solidFill>
                <a:latin typeface="IBM Plex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DE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183"/>
                </a:solidFill>
                <a:latin typeface="IBM Plex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47183"/>
              </a:solidFill>
              <a:latin typeface="IBM Plex Sans"/>
              <a:cs typeface="IBM Plex Sans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assets/mark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040880" y="2286000"/>
            <a:ext cx="3108960" cy="3108960"/>
          </a:xfrm>
          <a:prstGeom prst="rect">
            <a:avLst/>
          </a:prstGeom>
        </p:spPr>
      </p:pic>
      <p:pic>
        <p:nvPicPr>
          <p:cNvPr id="3" name="Image 1" descr="/home/claude/deck/assets/logo-on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4206240" cy="133439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33172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C9D3DE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 structured, Arabic-first feasibility study tool that turns a first-time founder's own data into an investor-ready document.</a:t>
            </a:r>
            <a:endParaRPr lang="en-US" sz="1700" dirty="0"/>
          </a:p>
        </p:txBody>
      </p:sp>
      <p:sp>
        <p:nvSpPr>
          <p:cNvPr id="5" name="Shape 1"/>
          <p:cNvSpPr/>
          <p:nvPr/>
        </p:nvSpPr>
        <p:spPr>
          <a:xfrm>
            <a:off x="713232" y="3310128"/>
            <a:ext cx="91440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685800" y="406908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FOUNDER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68580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Abdulaziz Alangari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2679192" y="406908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MARKET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679192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Saudi Arabia · GCC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4672584" y="406908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STAGE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4672584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· wuduh.site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665976" y="406908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665976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June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01 ·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First-time founders freeze at the</a:t>
            </a:r>
            <a:endParaRPr lang="en-US" sz="3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feasibility study.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Founders in Saudi Arabia and the GCC are asked for a structured feasibility study the moment they approach an accelerator, investor, or bank — but they have no team, no consultant, and no process to produce one.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 they skip it, or submit a generic template — and get screened out before anyone hears the idea.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709160" y="1783080"/>
            <a:ext cx="3977640" cy="960120"/>
          </a:xfrm>
          <a:prstGeom prst="roundRect">
            <a:avLst>
              <a:gd name="adj" fmla="val 7619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64608" y="2029968"/>
            <a:ext cx="457200" cy="457200"/>
          </a:xfrm>
          <a:prstGeom prst="ellipse">
            <a:avLst/>
          </a:prstGeom>
          <a:solidFill>
            <a:srgbClr val="C9A84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214884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0" y="1929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Arabic-first tool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0" y="224028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option is English, generic, or built for Western markets.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709160" y="2880360"/>
            <a:ext cx="3977640" cy="960120"/>
          </a:xfrm>
          <a:prstGeom prst="roundRect">
            <a:avLst>
              <a:gd name="adj" fmla="val 7619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64608" y="3127248"/>
            <a:ext cx="457200" cy="457200"/>
          </a:xfrm>
          <a:prstGeom prst="ellipse">
            <a:avLst/>
          </a:prstGeom>
          <a:solidFill>
            <a:srgbClr val="C9A84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324612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30266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Dismissed on sight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486400" y="333756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Templated or AI-written studies read as no real founder thinking.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709160" y="3977640"/>
            <a:ext cx="3977640" cy="960120"/>
          </a:xfrm>
          <a:prstGeom prst="roundRect">
            <a:avLst>
              <a:gd name="adj" fmla="val 7619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64608" y="4224528"/>
            <a:ext cx="457200" cy="457200"/>
          </a:xfrm>
          <a:prstGeom prst="ellipse">
            <a:avLst/>
          </a:prstGeom>
          <a:solidFill>
            <a:srgbClr val="C9A84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434340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486400" y="412394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Blank-page paralysis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486400" y="443484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structure, no guidance — so the study is rushed or skipped.</a:t>
            </a:r>
            <a:endParaRPr lang="en-US" sz="1150" dirty="0"/>
          </a:p>
        </p:txBody>
      </p:sp>
      <p:pic>
        <p:nvPicPr>
          <p:cNvPr id="21" name="Image 3" descr="/home/claude/deck/assets/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 · 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The Arabic-first gap opened exactly as the market exploded.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14283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76479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C9A84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80,000+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704088" y="235000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C9D3D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new commercial registrations in a single quarter (Q2 2025)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6002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14283D"/>
          </a:solidFill>
          <a:ln/>
        </p:spPr>
      </p:sp>
      <p:sp>
        <p:nvSpPr>
          <p:cNvPr id="8" name="Text 6"/>
          <p:cNvSpPr/>
          <p:nvPr/>
        </p:nvSpPr>
        <p:spPr>
          <a:xfrm>
            <a:off x="4892040" y="176479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C9A84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1.7M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4910328" y="235000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C9D3D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active commercial registrations in the Kingdom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14283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27355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C9A84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178+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704088" y="385876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C9D3D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Monsha'at-licensed accelerators &amp; incubators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31089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14283D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327355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C9A84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SR 3.2B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4910328" y="385876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C9D3D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startup VC in H1 2025 — 56% of all MENA funding</a:t>
            </a:r>
            <a:endParaRPr lang="en-US" sz="1200" dirty="0"/>
          </a:p>
        </p:txBody>
      </p:sp>
      <p:pic>
        <p:nvPicPr>
          <p:cNvPr id="16" name="Image 0" descr="/home/claude/deck/assets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19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03 · 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Wuduh turns a founder's own answers</a:t>
            </a:r>
            <a:endParaRPr lang="en-US" sz="3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into an investor-ready study.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guided, card-based web app. The founder answers 58 focused cards across 8 sections — in Arabic or English — and Wuduh assembles their own data into a professional 9-page PDF. It never writes the study for them; it structures and presents their thinking so it reads as credible, defensible founder work.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257800" y="1783080"/>
            <a:ext cx="3429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13248" y="2029968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2148840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35040" y="193852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58 cards · 8 sections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35040" y="2249424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 at a time — no blank page.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257800" y="2880360"/>
            <a:ext cx="3429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13248" y="3127248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324612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035040" y="30358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Arabic &amp; English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035040" y="3346704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Full RTL, native — not a translation toggle.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257800" y="3977640"/>
            <a:ext cx="3429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13248" y="4224528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34340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41330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Founder's own data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035040" y="4443984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AI-generated content. Credible by design.</a:t>
            </a:r>
            <a:endParaRPr lang="en-US" sz="1100" dirty="0"/>
          </a:p>
        </p:txBody>
      </p:sp>
      <p:pic>
        <p:nvPicPr>
          <p:cNvPr id="20" name="Image 3" descr="/home/claude/deck/assets/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 ·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From blank page to PDF, one question at a time.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22000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01952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3E7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Sign up &amp; choose language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33649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Arabic or English sets RTL for the whole study.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33472" y="182880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816352" y="205740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998" y="220004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078224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3E7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2816352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 58 cards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2816352" y="33649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Complete or skip; every answer auto-saves and resumes.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09744" y="182880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992624" y="205740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270" y="220004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54496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3E7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5"/>
          <p:cNvSpPr/>
          <p:nvPr/>
        </p:nvSpPr>
        <p:spPr>
          <a:xfrm>
            <a:off x="4992624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hints &amp; projections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4992624" y="33649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Bilingual hints on each card; a live financial chart.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986016" y="182880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168896" y="205740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1542" y="220004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430768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3E7E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7168896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Export the 9-page PDF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7168896" y="33649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polished, investor-ready document — anytime.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now at </a:t>
            </a:r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pPr algn="ctr" indent="0" marL="0">
              <a:buNone/>
            </a:pPr>
            <a:r>
              <a:rPr lang="en-US" sz="12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the full journey works end to end today.</a:t>
            </a:r>
            <a:endParaRPr lang="en-US" sz="1200" dirty="0"/>
          </a:p>
        </p:txBody>
      </p:sp>
      <p:pic>
        <p:nvPicPr>
          <p:cNvPr id="29" name="Image 4" descr="/home/claude/deck/assets/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 ·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 large, time-sensitive market — sized from the bottom up.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0D1B2A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7512" y="23317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~300k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85800" y="310896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9D3D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new founders entering the Saudi pipeline each year (proxy: new commercial registrations).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8288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56432" y="23317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178+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74720" y="310896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accelerators &amp; incubators — the reachable channel to first-time founders preparing to raise.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18288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6364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45352" y="23317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SAR 3M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263640" y="310896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obtainable revenue over three years — a low-single-digit share, via cohorts and direct exports.</a:t>
            </a:r>
            <a:endParaRPr lang="en-US" sz="1150" dirty="0"/>
          </a:p>
        </p:txBody>
      </p:sp>
      <p:pic>
        <p:nvPicPr>
          <p:cNvPr id="16" name="Image 0" descr="/home/claude/deck/assets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 ·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Two revenue streams, one product.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931920" cy="2240280"/>
          </a:xfrm>
          <a:prstGeom prst="roundRect">
            <a:avLst>
              <a:gd name="adj" fmla="val 4082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2227478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1396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 — founders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28346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SAR 99  </a:t>
            </a:r>
            <a:pPr indent="0" marL="0">
              <a:buNone/>
            </a:pPr>
            <a:r>
              <a:rPr lang="en-US" sz="12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 study export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31520" y="340156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whole study free; pay only to download the PDF. Charged at the moment of value.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828800"/>
            <a:ext cx="393192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37760" y="2084832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2227478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23560" y="21396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B2B — accelerators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937760" y="28346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SAR 3,000  </a:t>
            </a:r>
            <a:pPr indent="0" marL="0">
              <a:buNone/>
            </a:pPr>
            <a:r>
              <a:rPr lang="en-US" sz="12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 cohort · up to 30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4937760" y="340156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Programs license Wuduh so every founder produces a study — the volume engine of the model. Up to 30 founders per cohort.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~94% gross margin</a:t>
            </a:r>
            <a:pPr algn="ctr" indent="0" marL="0">
              <a:buNone/>
            </a:pPr>
            <a:r>
              <a:rPr lang="en-US" sz="12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·  near-zero marginal cost per export (≈ SAR 6 in fees).</a:t>
            </a:r>
            <a:endParaRPr lang="en-US" sz="1200" dirty="0"/>
          </a:p>
        </p:txBody>
      </p:sp>
      <p:pic>
        <p:nvPicPr>
          <p:cNvPr id="17" name="Image 2" descr="/home/claude/deck/assets/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04.5 · FINANCIAL 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Modest ramp, high margin (Year 1).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783080"/>
          <a:ext cx="54406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810512"/>
            <a:ext cx="2651760" cy="804672"/>
          </a:xfrm>
          <a:prstGeom prst="roundRect">
            <a:avLst>
              <a:gd name="adj" fmla="val 9091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99632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SAR 12K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217920" y="23225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MRR at month 12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035040" y="2724912"/>
            <a:ext cx="2651760" cy="804672"/>
          </a:xfrm>
          <a:prstGeom prst="roundRect">
            <a:avLst>
              <a:gd name="adj" fmla="val 9091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99632" y="28163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SAR 63K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217920" y="32369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revenue, year 1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35040" y="3639312"/>
            <a:ext cx="2651760" cy="804672"/>
          </a:xfrm>
          <a:prstGeom prst="roundRect">
            <a:avLst>
              <a:gd name="adj" fmla="val 9091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99632" y="37307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~94%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217920" y="41513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gross margin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45720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Founder estimates, direct channel. Accelerator cohorts are upside on top.</a:t>
            </a:r>
            <a:endParaRPr lang="en-US" sz="1000" dirty="0"/>
          </a:p>
        </p:txBody>
      </p:sp>
      <p:pic>
        <p:nvPicPr>
          <p:cNvPr id="15" name="Image 0" descr="/home/claude/deck/assets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07 · 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The only credible study a founder can actually reach.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Templates and AI are easy to reach but produce output investors dismiss. Consultants are credible but slow and costly. Wuduh is the only point that is both — credible, Arabic-first output at a self-serve price.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34290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Unfair advantage: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native Arabic-first depth + the 58-card method + accelerator embedding.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17720" y="1737360"/>
            <a:ext cx="3063240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17720" y="3268980"/>
            <a:ext cx="3063240" cy="0"/>
          </a:xfrm>
          <a:prstGeom prst="line">
            <a:avLst/>
          </a:prstGeom>
          <a:noFill/>
          <a:ln w="12700">
            <a:solidFill>
              <a:srgbClr val="D5DA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49340" y="1737360"/>
            <a:ext cx="0" cy="3063240"/>
          </a:xfrm>
          <a:prstGeom prst="line">
            <a:avLst/>
          </a:prstGeom>
          <a:noFill/>
          <a:ln w="12700">
            <a:solidFill>
              <a:srgbClr val="D5DA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48132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CREDIBLE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17720" y="483717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GENERIC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50792" y="315925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EASY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17536" y="31592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0" y="2212848"/>
            <a:ext cx="182880" cy="18288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14" name="Text 12"/>
          <p:cNvSpPr/>
          <p:nvPr/>
        </p:nvSpPr>
        <p:spPr>
          <a:xfrm>
            <a:off x="5248656" y="217627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02552" y="2313432"/>
            <a:ext cx="128016" cy="128016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894576" y="224942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Consultants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39712" y="3364992"/>
            <a:ext cx="128016" cy="128016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8" name="Text 16"/>
          <p:cNvSpPr/>
          <p:nvPr/>
        </p:nvSpPr>
        <p:spPr>
          <a:xfrm>
            <a:off x="7031736" y="3300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LivePlan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10912" y="4005072"/>
            <a:ext cx="128016" cy="128016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0" name="Text 18"/>
          <p:cNvSpPr/>
          <p:nvPr/>
        </p:nvSpPr>
        <p:spPr>
          <a:xfrm>
            <a:off x="5202936" y="39410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ChatGPT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22392" y="4370832"/>
            <a:ext cx="128016" cy="128016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2" name="Text 20"/>
          <p:cNvSpPr/>
          <p:nvPr/>
        </p:nvSpPr>
        <p:spPr>
          <a:xfrm>
            <a:off x="5614416" y="430682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Templates</a:t>
            </a:r>
            <a:endParaRPr lang="en-US" sz="950" dirty="0"/>
          </a:p>
        </p:txBody>
      </p:sp>
      <p:pic>
        <p:nvPicPr>
          <p:cNvPr id="23" name="Image 0" descr="/home/claude/deck/assets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08 · 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Accelerators are the wedge; direct is the long tail.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93192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2227478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1031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Accelerator partnerships (B2B2C)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78892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Reaches founders in bulk, at the moment of need, with a credible introducer. 178+ licensed programs are the target list; land 2–3 pilots first.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828800"/>
            <a:ext cx="393192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2084832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222747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21031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 &amp; product-led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37760" y="278892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Saudi founder community on X and LinkedIn, plus Arabic SEO for high-intent terms. Founders build free and pay at export — the product sells itself.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First 100 customers:  </a:t>
            </a:r>
            <a:pPr algn="ctr" indent="0" marL="0">
              <a:buNone/>
            </a:pPr>
            <a:r>
              <a:rPr lang="en-US" sz="12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couple of pilot cohorts plus direct outreach.</a:t>
            </a:r>
            <a:endParaRPr lang="en-US" sz="1200" dirty="0"/>
          </a:p>
        </p:txBody>
      </p:sp>
      <p:pic>
        <p:nvPicPr>
          <p:cNvPr id="15" name="Image 2" descr="/home/claude/deck/assets/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09 · 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Built and live — validation is the next step.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SHIPPED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30552"/>
            <a:ext cx="164592" cy="1645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2066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MVP live at wuduh.site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14600"/>
            <a:ext cx="164592" cy="1645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24505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Full 58-card journey, 8 sections</a:t>
            </a:r>
            <a:endParaRPr lang="en-US" sz="13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98648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9808" y="28346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Arabic &amp; English with full RTL</a:t>
            </a:r>
            <a:endParaRPr lang="en-US" sz="13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282696"/>
            <a:ext cx="164592" cy="16459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49808" y="3218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9-page PDF export (PDFShift)</a:t>
            </a:r>
            <a:endParaRPr lang="en-US" sz="13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666744"/>
            <a:ext cx="164592" cy="16459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49808" y="36027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financial projections</a:t>
            </a:r>
            <a:endParaRPr lang="en-US" sz="13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050792"/>
            <a:ext cx="164592" cy="164592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49808" y="3986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Auth, dashboard, auto-save, resume</a:t>
            </a:r>
            <a:endParaRPr lang="en-US" sz="1300" dirty="0"/>
          </a:p>
        </p:txBody>
      </p:sp>
      <p:sp>
        <p:nvSpPr>
          <p:cNvPr id="17" name="Shape 9"/>
          <p:cNvSpPr/>
          <p:nvPr/>
        </p:nvSpPr>
        <p:spPr>
          <a:xfrm>
            <a:off x="4709160" y="1783080"/>
            <a:ext cx="3977640" cy="2697480"/>
          </a:xfrm>
          <a:prstGeom prst="roundRect">
            <a:avLst>
              <a:gd name="adj" fmla="val 3390"/>
            </a:avLst>
          </a:prstGeom>
          <a:solidFill>
            <a:srgbClr val="F4F6F8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0"/>
          <p:cNvSpPr/>
          <p:nvPr/>
        </p:nvSpPr>
        <p:spPr>
          <a:xfrm>
            <a:off x="4937760" y="2011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19" name="Text 11"/>
          <p:cNvSpPr/>
          <p:nvPr/>
        </p:nvSpPr>
        <p:spPr>
          <a:xfrm>
            <a:off x="493776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0" name="Text 12"/>
          <p:cNvSpPr/>
          <p:nvPr/>
        </p:nvSpPr>
        <p:spPr>
          <a:xfrm>
            <a:off x="4937760" y="2606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founders, 3 accelerator managers, 1–2 investors on the live product.</a:t>
            </a:r>
            <a:endParaRPr lang="en-US" sz="1150" dirty="0"/>
          </a:p>
        </p:txBody>
      </p:sp>
      <p:sp>
        <p:nvSpPr>
          <p:cNvPr id="21" name="Text 13"/>
          <p:cNvSpPr/>
          <p:nvPr/>
        </p:nvSpPr>
        <p:spPr>
          <a:xfrm>
            <a:off x="4937760" y="3081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Switch on payment</a:t>
            </a:r>
            <a:endParaRPr lang="en-US" sz="1300" dirty="0"/>
          </a:p>
        </p:txBody>
      </p:sp>
      <p:sp>
        <p:nvSpPr>
          <p:cNvPr id="22" name="Text 14"/>
          <p:cNvSpPr/>
          <p:nvPr/>
        </p:nvSpPr>
        <p:spPr>
          <a:xfrm>
            <a:off x="4937760" y="33558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Moyasar (MADA + Visa) — the last piece before revenue.</a:t>
            </a: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4937760" y="38313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Land first pilots</a:t>
            </a:r>
            <a:endParaRPr lang="en-US" sz="1300" dirty="0"/>
          </a:p>
        </p:txBody>
      </p:sp>
      <p:sp>
        <p:nvSpPr>
          <p:cNvPr id="24" name="Text 16"/>
          <p:cNvSpPr/>
          <p:nvPr/>
        </p:nvSpPr>
        <p:spPr>
          <a:xfrm>
            <a:off x="4937760" y="41056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Convert the live demo into signed accelerator cohorts.</a:t>
            </a:r>
            <a:endParaRPr lang="en-US" sz="1150" dirty="0"/>
          </a:p>
        </p:txBody>
      </p:sp>
      <p:sp>
        <p:nvSpPr>
          <p:cNvPr id="25" name="Text 17"/>
          <p:cNvSpPr/>
          <p:nvPr/>
        </p:nvSpPr>
        <p:spPr>
          <a:xfrm>
            <a:off x="457200" y="45720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Honest status: pre-revenue. The product is real; willingness-to-pay is what we validate next.</a:t>
            </a:r>
            <a:endParaRPr lang="en-US" sz="1050" dirty="0"/>
          </a:p>
        </p:txBody>
      </p:sp>
      <p:pic>
        <p:nvPicPr>
          <p:cNvPr id="26" name="Image 6" descr="/home/claude/deck/assets/mar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·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D1B2A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Solo founder, full-stack — shipped in under two weeks.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371600" cy="13716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659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84C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AA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Abdulaziz Alangari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69417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77440" y="19202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Conceived, designed, specified, and built Wuduh end to end — a live bilingual product with auth, payments-ready infrastructure, and PDF export — alone, in under two weeks.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49240" y="18745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STRENGTHS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2" y="2185416"/>
            <a:ext cx="146304" cy="14630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596128" y="21214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Full-stack product &amp; engineering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2" y="2551176"/>
            <a:ext cx="146304" cy="14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96128" y="2487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Arabic-first product &amp; UX judgment</a:t>
            </a:r>
            <a:endParaRPr lang="en-US" sz="1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2916936"/>
            <a:ext cx="146304" cy="1463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96128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Lives the founder-readiness problem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349240" y="33832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BUILDING TOWARD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349240" y="3657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Hiring distribution first — business development to land accelerators, then growth. Engineering is done; the gap is reach, not build.</a:t>
            </a:r>
            <a:endParaRPr lang="en-US" sz="1150" dirty="0"/>
          </a:p>
        </p:txBody>
      </p:sp>
      <p:pic>
        <p:nvPicPr>
          <p:cNvPr id="18" name="Image 3" descr="/home/claude/deck/assets/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594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76656" y="47320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8229600" y="47320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18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assets/mark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-640080" y="274320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CORE BET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First-time Saudi founders — and the accelerators serving them — will pay for a credible, Arabic-first feasibility study built from their own data.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WE'RE LOOKING FOR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324612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14283D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3429000"/>
            <a:ext cx="420624" cy="420624"/>
          </a:xfrm>
          <a:prstGeom prst="ellipse">
            <a:avLst/>
          </a:prstGeom>
          <a:solidFill>
            <a:srgbClr val="C9A84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610" y="3538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341985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Accelerator pilot partners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41248" y="39136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C6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 a cohort on Wuduh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337560" y="324612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14283D"/>
          </a:solidFill>
          <a:ln/>
        </p:spPr>
      </p:sp>
      <p:sp>
        <p:nvSpPr>
          <p:cNvPr id="12" name="Shape 8"/>
          <p:cNvSpPr/>
          <p:nvPr/>
        </p:nvSpPr>
        <p:spPr>
          <a:xfrm>
            <a:off x="3538728" y="3429000"/>
            <a:ext cx="420624" cy="420624"/>
          </a:xfrm>
          <a:prstGeom prst="ellipse">
            <a:avLst/>
          </a:prstGeom>
          <a:solidFill>
            <a:srgbClr val="C9A84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090" y="353836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069080" y="341985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Early-stage backers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3538728" y="39136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C6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 distribution, not survival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035040" y="324612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14283D"/>
          </a:solidFill>
          <a:ln/>
        </p:spPr>
      </p:sp>
      <p:sp>
        <p:nvSpPr>
          <p:cNvPr id="17" name="Shape 12"/>
          <p:cNvSpPr/>
          <p:nvPr/>
        </p:nvSpPr>
        <p:spPr>
          <a:xfrm>
            <a:off x="6236208" y="3429000"/>
            <a:ext cx="420624" cy="420624"/>
          </a:xfrm>
          <a:prstGeom prst="ellipse">
            <a:avLst/>
          </a:prstGeom>
          <a:solidFill>
            <a:srgbClr val="C9A84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570" y="3538362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766560" y="341985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Design-partner founders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6236208" y="39136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C6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studies, real feedback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40080" y="46177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wuduh.site</a:t>
            </a:r>
            <a:pPr indent="0" marL="0">
              <a:buNone/>
            </a:pPr>
            <a:r>
              <a:rPr lang="en-US" sz="1200" dirty="0">
                <a:solidFill>
                  <a:srgbClr val="8FA2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 ·   Abdulaziz Alangari   ·   June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Wuduh — Pitch Deck</dc:title>
  <dc:subject>PptxGenJS Presentation</dc:subject>
  <dc:creator>Abdulaziz Alangari</dc:creator>
  <cp:lastModifiedBy>Abdulaziz Alangari</cp:lastModifiedBy>
  <cp:revision>1</cp:revision>
  <dcterms:created xsi:type="dcterms:W3CDTF">2026-06-25T18:49:15Z</dcterms:created>
  <dcterms:modified xsi:type="dcterms:W3CDTF">2026-06-25T18:49:15Z</dcterms:modified>
</cp:coreProperties>
</file>