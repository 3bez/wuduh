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big companies have teams for this. First-time founders have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Wuduh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4747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Investor-Ready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card-based journey that turns a founder's raw idea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professional feasibility study — ready to share.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Saudi Arabia &amp; GCC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3891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 founders are flying blind.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process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skip feasibility studies or cobble together random templates that investors ignore.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60020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7830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page anxiety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2834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business plan from scratch is overwhelming — most give up before they begin.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1600200"/>
            <a:ext cx="2560320" cy="2880360"/>
          </a:xfrm>
          <a:prstGeom prst="roundRect">
            <a:avLst>
              <a:gd name="adj" fmla="val 4286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investor readiness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17920" y="2834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that get submitted are generic, unvalidated, and fail to build confidence.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Wuduh guides founders card by card.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swipe-based card journey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walks a first-time founder through every section of a feasibility study — one focused question at a time.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5176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structured cards across 8 sections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3580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3008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+ optional cards with smart hints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1985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248" y="3392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own data — no AI-generated fluff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3904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1248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professional investor-ready PDF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87952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1248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&amp; English — founder chooses at start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5212080" y="1325880"/>
            <a:ext cx="3383280" cy="3383280"/>
          </a:xfrm>
          <a:prstGeom prst="roundRect">
            <a:avLst>
              <a:gd name="adj" fmla="val 4865"/>
            </a:avLst>
          </a:prstGeom>
          <a:solidFill>
            <a:srgbClr val="1B2B3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5440680" y="160020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243447"/>
          </a:solidFill>
          <a:ln/>
        </p:spPr>
      </p:sp>
      <p:sp>
        <p:nvSpPr>
          <p:cNvPr id="17" name="Text 10"/>
          <p:cNvSpPr/>
          <p:nvPr/>
        </p:nvSpPr>
        <p:spPr>
          <a:xfrm>
            <a:off x="5532120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2.1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5532120" y="19933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solution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sentence?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532120" y="265176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</p:spPr>
      </p:sp>
      <p:sp>
        <p:nvSpPr>
          <p:cNvPr id="20" name="Text 13"/>
          <p:cNvSpPr/>
          <p:nvPr/>
        </p:nvSpPr>
        <p:spPr>
          <a:xfrm>
            <a:off x="562356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answer here...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53212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Skip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949440" y="3520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→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5440680" y="38862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C9A84C">
              <a:alpha val="12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55321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Keep it simple enough for a 10-year-old.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input. Professional output.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31720" y="2286000"/>
            <a:ext cx="25603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664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737360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176272"/>
            <a:ext cx="1645920" cy="0"/>
          </a:xfrm>
          <a:prstGeom prst="line">
            <a:avLst/>
          </a:prstGeom>
          <a:noFill/>
          <a:ln w="12700">
            <a:solidFill>
              <a:srgbClr val="2434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226771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Language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27889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or English. The entire journey and export follows that choice.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16552" y="2286000"/>
            <a:ext cx="25603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542032" y="150876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651760" y="1664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737360"/>
            <a:ext cx="347472" cy="34747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51760" y="2176272"/>
            <a:ext cx="1645920" cy="0"/>
          </a:xfrm>
          <a:prstGeom prst="line">
            <a:avLst/>
          </a:prstGeom>
          <a:noFill/>
          <a:ln w="12700">
            <a:solidFill>
              <a:srgbClr val="24344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651760" y="226771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Cards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51760" y="27889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right to complete, left to skip. Hints guide every input.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501384" y="2286000"/>
            <a:ext cx="25603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4626864" y="150876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736592" y="1664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1737360"/>
            <a:ext cx="347472" cy="34747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736592" y="2176272"/>
            <a:ext cx="1645920" cy="0"/>
          </a:xfrm>
          <a:prstGeom prst="line">
            <a:avLst/>
          </a:prstGeom>
          <a:noFill/>
          <a:ln w="12700">
            <a:solidFill>
              <a:srgbClr val="24344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36592" y="226771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Data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736592" y="27889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numbers, real assumptions. The data belongs to the founder.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711696" y="150876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821424" y="1664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737360"/>
            <a:ext cx="347472" cy="34747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821424" y="2176272"/>
            <a:ext cx="1645920" cy="0"/>
          </a:xfrm>
          <a:prstGeom prst="line">
            <a:avLst/>
          </a:prstGeom>
          <a:noFill/>
          <a:ln w="12700">
            <a:solidFill>
              <a:srgbClr val="24344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821424" y="226771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Share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821424" y="27889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professional PDF ready to share with investors.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cards. 8 sections. One complete study.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64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" y="1764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Opportunity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783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600200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764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58968" y="1764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1783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5694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569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587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40487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5694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58968" y="2569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2587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3741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3374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3924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20954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3741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58968" y="3374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1000" y="33924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14216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4178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5568" y="4178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4197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014216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4178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58968" y="4178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01000" y="4197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Arabia &amp; GCC — a market that is ready.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214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founders building their first startup — no team, no consultant, no process.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944368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8152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— B2B2C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3474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Accelerators, incubators, and university programs that need a structured tool for their cohorts.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0020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76672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Accelerator Targets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084832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Monshaat — Saudi SME Authority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596896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2080" y="2569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Flat6Labs Riyadh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08960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1208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KAUST Entrepreneurship Center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621024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Badir Technology Incubator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133088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12080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 &amp; Aramco Corporate Accelerators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4937760" y="4572000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C9A84C">
              <a:alpha val="15000"/>
            </a:srgbClr>
          </a:solidFill>
          <a:ln/>
        </p:spPr>
      </p:sp>
      <p:sp>
        <p:nvSpPr>
          <p:cNvPr id="25" name="Text 15"/>
          <p:cNvSpPr/>
          <p:nvPr/>
        </p:nvSpPr>
        <p:spPr>
          <a:xfrm>
            <a:off x="5074920" y="4617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Full Arabic &amp; English support — RTL ready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revenue streams from day one.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5564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C9A84C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647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214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Accelerators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1546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cohort licenses to accelerators and incubators. They pay per cohort or per seat. Recurring revenue per program cycle.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75564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429000" y="17647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12140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Direct Founders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29000" y="31546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founders pay per study or via a subscription. Lower ticket but higher volume as the platform grows.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6002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75564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8FA3B8">
              <a:alpha val="5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263640" y="17647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2140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Marketplace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31546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choose from a gallery of export themes. Premium themes paid. Designer marketplace with commission on custom work.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fast. Build smart. Scale with partners.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D9488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 ·  Now → Q3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4288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2768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52-card journey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6148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7340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&amp; English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1868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31912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PDF export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7588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36484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system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13308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41056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5 founders + 3 accelerators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3291840" y="1572768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C9A84C">
              <a:alpha val="40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3401568" y="16276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·  Q4 2026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3291840" y="214884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30428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03320" y="22768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input validator</a:t>
            </a:r>
            <a:endParaRPr lang="en-US" sz="1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76148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703320" y="27340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 engine</a:t>
            </a:r>
            <a:endParaRPr lang="en-US" sz="11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21868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03320" y="31912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gallery + marketplace</a:t>
            </a:r>
            <a:endParaRPr lang="en-US" sz="11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3675888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03320" y="36484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white-labeling</a:t>
            </a:r>
            <a:endParaRPr lang="en-US" sz="11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4133088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703320" y="41056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 — update over time</a:t>
            </a:r>
            <a:endParaRPr lang="en-US" sz="1100" dirty="0"/>
          </a:p>
        </p:txBody>
      </p:sp>
      <p:sp>
        <p:nvSpPr>
          <p:cNvPr id="30" name="Shape 18"/>
          <p:cNvSpPr/>
          <p:nvPr/>
        </p:nvSpPr>
        <p:spPr>
          <a:xfrm>
            <a:off x="6126480" y="1572768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8FA3B8">
              <a:alpha val="25000"/>
            </a:srgbClr>
          </a:solidFill>
          <a:ln/>
        </p:spPr>
      </p:sp>
      <p:sp>
        <p:nvSpPr>
          <p:cNvPr id="31" name="Text 19"/>
          <p:cNvSpPr/>
          <p:nvPr/>
        </p:nvSpPr>
        <p:spPr>
          <a:xfrm>
            <a:off x="6236208" y="16276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2027</a:t>
            </a:r>
            <a:endParaRPr lang="en-US" sz="1100" dirty="0"/>
          </a:p>
        </p:txBody>
      </p:sp>
      <p:sp>
        <p:nvSpPr>
          <p:cNvPr id="32" name="Shape 20"/>
          <p:cNvSpPr/>
          <p:nvPr/>
        </p:nvSpPr>
        <p:spPr>
          <a:xfrm>
            <a:off x="6126480" y="214884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2304288"/>
            <a:ext cx="182880" cy="1828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537960" y="22768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hub</a:t>
            </a:r>
            <a:endParaRPr lang="en-US" sz="11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3640" y="2761488"/>
            <a:ext cx="182880" cy="1828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537960" y="27340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OS features</a:t>
            </a:r>
            <a:endParaRPr lang="en-US" sz="110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3640" y="3218688"/>
            <a:ext cx="182880" cy="1828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537960" y="31912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market expansion</a:t>
            </a:r>
            <a:endParaRPr lang="en-US" sz="110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3640" y="3675888"/>
            <a:ext cx="182880" cy="1828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537960" y="36484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Investor-facing shareable link</a:t>
            </a:r>
            <a:endParaRPr lang="en-US" sz="110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3640" y="4133088"/>
            <a:ext cx="182880" cy="1828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537960" y="41056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accelerator integrations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Saudi startup wave needs infrastructure.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556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7556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is creating founders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216712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is actively pushing entrepreneurship — accelerators are growing, cohorts are increasing, and tools to support them are lagging behind.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1572768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75564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7556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Arabic-first feasibility tool exists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65192" y="216712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in this space is English-first, generic, and not built for the Saudi and GCC founder context.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264408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4728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4472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want structured studies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1792" y="38587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ecosystem matures, investors are raising their bar. A founder with a professional, data-backed study stands out immediately.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3264408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44728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4472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 gives us fast distribution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965192" y="38587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accelerator partnership puts Wuduh in front of an entire cohort. We don't need to find founders one by one.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114800" cy="41148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this together.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474720" y="1993392"/>
            <a:ext cx="21945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48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Wuduh is looking for accelerator partners and early believers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want to give Saudi founders a real advantage.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3127248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98448" y="32735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accelerators to test with first cohort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3127248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0168" y="32735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Beta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30168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founders to complete the MVP journey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3127248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1B2B3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61888" y="32735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reactions before we build V2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wuduh.app  ·  Saudi Arabia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Wuduh — Pitch Deck</dc:title>
  <dc:subject>PptxGenJS Presentation</dc:subject>
  <dc:creator>PptxGenJS</dc:creator>
  <cp:lastModifiedBy>PptxGenJS</cp:lastModifiedBy>
  <cp:revision>1</cp:revision>
  <dcterms:created xsi:type="dcterms:W3CDTF">2026-06-14T18:09:22Z</dcterms:created>
  <dcterms:modified xsi:type="dcterms:W3CDTF">2026-06-14T18:09:22Z</dcterms:modified>
</cp:coreProperties>
</file>